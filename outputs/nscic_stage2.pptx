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VCI</c:v>
                </c:pt>
              </c:strCache>
            </c:strRef>
          </c:tx>
          <c:spPr>
            <a:solidFill>
              <a:srgbClr val="F9A8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71C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35.3</c:v>
                </c:pt>
                <c:pt idx="1">
                  <c:v>37.7</c:v>
                </c:pt>
                <c:pt idx="2">
                  <c:v>35.2</c:v>
                </c:pt>
                <c:pt idx="3">
                  <c:v>17.9</c:v>
                </c:pt>
                <c:pt idx="4">
                  <c:v>26</c:v>
                </c:pt>
                <c:pt idx="5">
                  <c:v>23</c:v>
                </c:pt>
                <c:pt idx="6">
                  <c:v>44</c:v>
                </c:pt>
                <c:pt idx="7">
                  <c:v>73</c:v>
                </c:pt>
                <c:pt idx="8">
                  <c:v>89.6</c:v>
                </c:pt>
                <c:pt idx="9">
                  <c:v>86</c:v>
                </c:pt>
                <c:pt idx="10">
                  <c:v>63.5</c:v>
                </c:pt>
                <c:pt idx="11">
                  <c:v>37.7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VCI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71C1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Narayanpet</c:v>
                  </c:pt>
                  <c:pt idx="1">
                    <c:v>Mahabubnagar</c:v>
                  </c:pt>
                  <c:pt idx="2">
                    <c:v>Nagarkurnool</c:v>
                  </c:pt>
                  <c:pt idx="3">
                    <c:v>Nalgonda</c:v>
                  </c:pt>
                  <c:pt idx="4">
                    <c:v>Wanaparthy</c:v>
                  </c:pt>
                  <c:pt idx="5">
                    <c:v>Jogulamba Gadwal</c:v>
                  </c:pt>
                  <c:pt idx="6">
                    <c:v>Medak</c:v>
                  </c:pt>
                  <c:pt idx="7">
                    <c:v>Vikarabad</c:v>
                  </c:pt>
                  <c:pt idx="8">
                    <c:v>Sangareddy</c:v>
                  </c:pt>
                  <c:pt idx="9">
                    <c:v>Khammam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</c:v>
                </c:pt>
                <c:pt idx="1">
                  <c:v>40</c:v>
                </c:pt>
                <c:pt idx="2">
                  <c:v>44.1</c:v>
                </c:pt>
                <c:pt idx="3">
                  <c:v>45.1</c:v>
                </c:pt>
                <c:pt idx="4">
                  <c:v>44.9</c:v>
                </c:pt>
                <c:pt idx="5">
                  <c:v>44.7</c:v>
                </c:pt>
                <c:pt idx="6">
                  <c:v>39.8</c:v>
                </c:pt>
                <c:pt idx="7">
                  <c:v>46.1</c:v>
                </c:pt>
                <c:pt idx="8">
                  <c:v>45.8</c:v>
                </c:pt>
                <c:pt idx="9">
                  <c:v>49.8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3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Narayanpet</c:v>
                </c:pt>
              </c:strCache>
            </c:strRef>
          </c:tx>
          <c:spPr>
            <a:solidFill>
              <a:srgbClr val="B71C1C"/>
            </a:solidFill>
            <a:ln w="31750" cap="flat">
              <a:solidFill>
                <a:srgbClr val="B71C1C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1C1C"/>
              </a:solidFill>
              <a:ln w="9525" cap="flat">
                <a:solidFill>
                  <a:srgbClr val="B7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  <c:pt idx="10">
                    <c:v>2036</c:v>
                  </c:pt>
                  <c:pt idx="11">
                    <c:v>2037</c:v>
                  </c:pt>
                  <c:pt idx="12">
                    <c:v>2038</c:v>
                  </c:pt>
                  <c:pt idx="13">
                    <c:v>2039</c:v>
                  </c:pt>
                  <c:pt idx="14">
                    <c:v>2040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28</c:v>
                </c:pt>
                <c:pt idx="1">
                  <c:v>31</c:v>
                </c:pt>
                <c:pt idx="2">
                  <c:v>34</c:v>
                </c:pt>
                <c:pt idx="3">
                  <c:v>37</c:v>
                </c:pt>
                <c:pt idx="4">
                  <c:v>40</c:v>
                </c:pt>
                <c:pt idx="5">
                  <c:v>43</c:v>
                </c:pt>
                <c:pt idx="6">
                  <c:v>46</c:v>
                </c:pt>
                <c:pt idx="7">
                  <c:v>49</c:v>
                </c:pt>
                <c:pt idx="8">
                  <c:v>52</c:v>
                </c:pt>
                <c:pt idx="9">
                  <c:v>55</c:v>
                </c:pt>
                <c:pt idx="10">
                  <c:v>57</c:v>
                </c:pt>
                <c:pt idx="11">
                  <c:v>59</c:v>
                </c:pt>
                <c:pt idx="12">
                  <c:v>61</c:v>
                </c:pt>
                <c:pt idx="13">
                  <c:v>63</c:v>
                </c:pt>
                <c:pt idx="14">
                  <c:v>64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Nagarkurnool</c:v>
                </c:pt>
              </c:strCache>
            </c:strRef>
          </c:tx>
          <c:spPr>
            <a:solidFill>
              <a:srgbClr val="E65100"/>
            </a:solidFill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  <c:pt idx="10">
                    <c:v>2036</c:v>
                  </c:pt>
                  <c:pt idx="11">
                    <c:v>2037</c:v>
                  </c:pt>
                  <c:pt idx="12">
                    <c:v>2038</c:v>
                  </c:pt>
                  <c:pt idx="13">
                    <c:v>2039</c:v>
                  </c:pt>
                  <c:pt idx="14">
                    <c:v>2040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</c:v>
                </c:pt>
                <c:pt idx="1">
                  <c:v>25</c:v>
                </c:pt>
                <c:pt idx="2">
                  <c:v>27</c:v>
                </c:pt>
                <c:pt idx="3">
                  <c:v>30</c:v>
                </c:pt>
                <c:pt idx="4">
                  <c:v>33</c:v>
                </c:pt>
                <c:pt idx="5">
                  <c:v>35</c:v>
                </c:pt>
                <c:pt idx="6">
                  <c:v>37</c:v>
                </c:pt>
                <c:pt idx="7">
                  <c:v>40</c:v>
                </c:pt>
                <c:pt idx="8">
                  <c:v>42</c:v>
                </c:pt>
                <c:pt idx="9">
                  <c:v>44</c:v>
                </c:pt>
                <c:pt idx="10">
                  <c:v>46</c:v>
                </c:pt>
                <c:pt idx="11">
                  <c:v>48</c:v>
                </c:pt>
                <c:pt idx="12">
                  <c:v>50</c:v>
                </c:pt>
                <c:pt idx="13">
                  <c:v>52</c:v>
                </c:pt>
                <c:pt idx="14">
                  <c:v>54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Jogulamba Gadwal</c:v>
                </c:pt>
              </c:strCache>
            </c:strRef>
          </c:tx>
          <c:spPr>
            <a:solidFill>
              <a:srgbClr val="4A148C"/>
            </a:solidFill>
            <a:ln w="31750" cap="flat">
              <a:solidFill>
                <a:srgbClr val="4A148C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148C"/>
              </a:solidFill>
              <a:ln w="9525" cap="flat">
                <a:solidFill>
                  <a:srgbClr val="4A14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  <c:pt idx="10">
                    <c:v>2036</c:v>
                  </c:pt>
                  <c:pt idx="11">
                    <c:v>2037</c:v>
                  </c:pt>
                  <c:pt idx="12">
                    <c:v>2038</c:v>
                  </c:pt>
                  <c:pt idx="13">
                    <c:v>2039</c:v>
                  </c:pt>
                  <c:pt idx="14">
                    <c:v>2040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20</c:v>
                </c:pt>
                <c:pt idx="1">
                  <c:v>23</c:v>
                </c:pt>
                <c:pt idx="2">
                  <c:v>25</c:v>
                </c:pt>
                <c:pt idx="3">
                  <c:v>27</c:v>
                </c:pt>
                <c:pt idx="4">
                  <c:v>29</c:v>
                </c:pt>
                <c:pt idx="5">
                  <c:v>32</c:v>
                </c:pt>
                <c:pt idx="6">
                  <c:v>34</c:v>
                </c:pt>
                <c:pt idx="7">
                  <c:v>37</c:v>
                </c:pt>
                <c:pt idx="8">
                  <c:v>39</c:v>
                </c:pt>
                <c:pt idx="9">
                  <c:v>41</c:v>
                </c:pt>
                <c:pt idx="10">
                  <c:v>44</c:v>
                </c:pt>
                <c:pt idx="11">
                  <c:v>46</c:v>
                </c:pt>
                <c:pt idx="12">
                  <c:v>48</c:v>
                </c:pt>
                <c:pt idx="13">
                  <c:v>51</c:v>
                </c:pt>
                <c:pt idx="14">
                  <c:v>53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Mahbubnagar</c:v>
                </c:pt>
              </c:strCache>
            </c:strRef>
          </c:tx>
          <c:spPr>
            <a:solidFill>
              <a:srgbClr val="0D47A1"/>
            </a:solidFill>
            <a:ln w="31750" cap="flat">
              <a:solidFill>
                <a:srgbClr val="0D47A1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47A1"/>
              </a:solidFill>
              <a:ln w="9525" cap="flat">
                <a:solidFill>
                  <a:srgbClr val="0D47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  <c:pt idx="10">
                    <c:v>2036</c:v>
                  </c:pt>
                  <c:pt idx="11">
                    <c:v>2037</c:v>
                  </c:pt>
                  <c:pt idx="12">
                    <c:v>2038</c:v>
                  </c:pt>
                  <c:pt idx="13">
                    <c:v>2039</c:v>
                  </c:pt>
                  <c:pt idx="14">
                    <c:v>2040</c:v>
                  </c:pt>
                </c:lvl>
              </c:multiLvlStrCache>
            </c:multiLvl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18</c:v>
                </c:pt>
                <c:pt idx="1">
                  <c:v>21</c:v>
                </c:pt>
                <c:pt idx="2">
                  <c:v>23</c:v>
                </c:pt>
                <c:pt idx="3">
                  <c:v>25</c:v>
                </c:pt>
                <c:pt idx="4">
                  <c:v>28</c:v>
                </c:pt>
                <c:pt idx="5">
                  <c:v>30</c:v>
                </c:pt>
                <c:pt idx="6">
                  <c:v>33</c:v>
                </c:pt>
                <c:pt idx="7">
                  <c:v>35</c:v>
                </c:pt>
                <c:pt idx="8">
                  <c:v>37</c:v>
                </c:pt>
                <c:pt idx="9">
                  <c:v>40</c:v>
                </c:pt>
                <c:pt idx="10">
                  <c:v>42</c:v>
                </c:pt>
                <c:pt idx="11">
                  <c:v>45</c:v>
                </c:pt>
                <c:pt idx="12">
                  <c:v>47</c:v>
                </c:pt>
                <c:pt idx="13">
                  <c:v>50</c:v>
                </c:pt>
                <c:pt idx="14">
                  <c:v>52</c:v>
                </c:pt>
              </c:numCache>
            </c:numRef>
          </c:val>
          <c:smooth val="1"/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Anvīkṣaṇa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0CAF9"/>
                </a:solidFill>
              </a:rPr>
              <a:t>Agricultural Drought Intelligence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CAF9"/>
                </a:solidFill>
              </a:rPr>
              <a:t>for Climate-Resilient Lending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2860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NSCIC Stage 2 Prototype  ·  </a:t>
            </a:r>
            <a:pPr indent="0" marL="0">
              <a:buNone/>
            </a:pPr>
            <a:r>
              <a:rPr lang="en-US" sz="1100" b="1" dirty="0">
                <a:solidFill>
                  <a:srgbClr val="B0BEC5"/>
                </a:solidFill>
              </a:rPr>
              <a:t>National Climate Stack Innovation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Telangana · 33 Districts · 592 Mandals · 487,243 Real DiCRA Records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640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0.974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1115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Model ROC-AUC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2011680" cy="1828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592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Mandal Polygons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240280"/>
            <a:ext cx="2011680" cy="1828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2040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94360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Projection Horizon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063240"/>
            <a:ext cx="2011680" cy="1828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94360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Real Satellite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886200"/>
            <a:ext cx="2011680" cy="1828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Aganitha Space Technologies Pvt. Ltd.  ·  Secunderabad, Hyderabad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71C1C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Agricultural Drought Costs India ₹50,000+ Cr Annually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22860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No Early Warning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Drought damage is identified only after crop loss — NABARD loan defaults follow 6–18 months later. No forward signal exists today.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54864" cy="2286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No Mandal Resolution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933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District-level rainfall averages mask severe within-district variation. 2 mandals 30km apart can differ by 40% in soil moisture.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22860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No Climate Projections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993392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Lenders have no tool to assess how drought risk evolves over a 10–15 year loan horizon under different climate scenarios.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1143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0CAF9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Anvīkṣaṇa ingests real satellite data from DiCRA/UNDP, computes mandal-level drought indices (VCI + CDSI), and projects district drought probability 15 years forward — giving NABARD and commercial lenders a science-based credit risk signal before loan origination.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D47A1"/>
                </a:solidFill>
              </a:rPr>
              <a:t>LAYER 1 — DATA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Real Satellite Data — DiCRA / UNDP India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13,616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078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NDVI Vectors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592 mandal polygons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23 biweekly 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13,616 observations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54864" cy="11887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89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064"/>
                </a:solidFill>
              </a:rPr>
              <a:t>427K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52160" y="1078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NDVI H3 Grid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4173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21,363 H3 cells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Resolution 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427,260 records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54864" cy="11887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05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7A1"/>
                </a:solidFill>
              </a:rPr>
              <a:t>56K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24505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Soil Moisture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2788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576 mandals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12 months 2025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56,365 records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7744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505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</a:rPr>
              <a:t>LST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52160" y="24505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Land Surface Temp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2788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H3 Res-7 indexed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Feb–Mar 2026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DiCRA/MODIS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2E7D32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Total: 487,243 Real DiCRA Records  ·  100% Satellite-Derived  ·  UNDP India Digital Public Good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H3 DGGS (Uber) at Resolution 7 · OGC CSAPI compliant · Standards-native architecture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7D32"/>
                </a:solidFill>
              </a:rPr>
              <a:t>LAYER 2 — DROUGHT INDICES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Vegetation Condition Index (VCI) — FAO / ISRO Standard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  =  (NDVI − NDVIₘᵢₙ)  ÷  (NDVIₘₐₓ − NDVIₘᵢₙ)  ×  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Per mandal · Using 2025 historical envelope (23 biweekly dates) · 0 = Extreme Drought, 100 = No Drought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228600" cy="3200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978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0–10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978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Extreme Drought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228600" cy="320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1344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10–20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344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Severe Drought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691640"/>
            <a:ext cx="22860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1709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20–35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709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Moderate Drought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057400"/>
            <a:ext cx="228600" cy="320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075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35–50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075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Watch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423160"/>
            <a:ext cx="2286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2441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50+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No Drought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1965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Telangana Monthly VCI — 2025 (Average Across 592 Mandals)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65760" y="2286000"/>
          <a:ext cx="8412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April = 17.9 (Severe Drought)  ·  September = 89.6 (No Drought)  ·  7.4× seasonal swing confirms DiCRA data quality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046720" y="4965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D47A1"/>
                </a:solidFill>
              </a:rPr>
              <a:t>LAYER 2 — SPATIAL INTELLIGENCE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Mandal-Level Drought Map — Real Polygon Boundaries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Districts by Annual Mean VCI (lower = more drought-prone)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96012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37760" y="960120"/>
            <a:ext cx="54864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74920" y="1005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1C1C"/>
                </a:solidFill>
              </a:rPr>
              <a:t>576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035040" y="102412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mandals with real NDVI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polygon boundaries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201168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011680"/>
            <a:ext cx="54864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5100"/>
                </a:solidFill>
              </a:rPr>
              <a:t>23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207568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biweekly observations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covering full 2025 cycle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306324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37760" y="3063240"/>
            <a:ext cx="54864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</a:rPr>
              <a:t>r=0.45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92240" y="31272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NDVI–Soil Moisture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correlation (p&lt;0.001)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4114800"/>
            <a:ext cx="3840480" cy="777240"/>
          </a:xfrm>
          <a:prstGeom prst="rect">
            <a:avLst/>
          </a:prstGeom>
          <a:solidFill>
            <a:srgbClr val="FFF3E0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074920" y="41605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</a:rPr>
              <a:t>⚡ Choropleth maps at mandal level render in the live Streamlit dashboard — actual DiCRA polygon boundaries, not administrative overlays.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148C"/>
                </a:solidFill>
              </a:rPr>
              <a:t>LAYER 2 — MODELLING ENGINE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Drought Prediction Model — Architecture &amp;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1480" cy="7772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247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98755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042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16 features: NDVI, SM, LST + lag-1/3/6 months + rolling-3/6 means + NDVI×SM interaction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41148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194767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20025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VCI + CDSI Indices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VCI (FAO standard) + CDSI = 0.6×VCI + 0.4×SMDI. Both computed per-mandal from real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1148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449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90779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9626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Random Forest 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2552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200 trees · balanced class weights · drought binary detection (CDSI &gt; threshold)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67912"/>
            <a:ext cx="411480" cy="7772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050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386791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39227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Gradient Boosting Regressor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2153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Continuous CDSI prediction · 200 estimators · learning rate 0.05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12080" y="987552"/>
            <a:ext cx="35661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987552"/>
            <a:ext cx="54864" cy="13258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1042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Spatial Cross-Validation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38988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GroupKFold (k=5) · Entire districts held out from training · Prevents spatial autocorrelation leakage · Standard for geospatial ML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2450592"/>
            <a:ext cx="17099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12080" y="2450592"/>
            <a:ext cx="54864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25054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0.974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303520" y="2962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ROC-AUC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3163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±0.004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22592" y="2450592"/>
            <a:ext cx="17099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22592" y="2450592"/>
            <a:ext cx="54864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5054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</a:rPr>
              <a:t>0.801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114032" y="2962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F1 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14032" y="3163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±0.032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12080" y="3502152"/>
            <a:ext cx="17099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0" y="3502152"/>
            <a:ext cx="54864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5570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0.058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303520" y="40142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Brier Score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0" y="4215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lower=better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22592" y="3502152"/>
            <a:ext cx="17099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022592" y="3502152"/>
            <a:ext cx="54864" cy="9601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14032" y="35570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48C"/>
                </a:solidFill>
              </a:rPr>
              <a:t>0.426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114032" y="401421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RMSE (CDSI)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14032" y="4215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±0.009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71C1C"/>
                </a:solidFill>
              </a:rPr>
              <a:t>LAYER 3 — FORWARD PROJECTIONS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2026–2040 District Drought Probability — SSP2-4.5 &amp; SSP5-8.5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6583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Methodology: Random Forest model trained on 2000–2024 baseline · IPCC AR6 WG1 South Asia regional change factors applied to feature space · 20-member ensemble for uncertainty quantification · SSP2-4.5 (moderate) and SSP5-8.5 (high emissions) scenarios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238"/>
                </a:solidFill>
              </a:rPr>
              <a:t>Drought Probability Trend — Top 4 At-Risk Districts (SSP5-8.5)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96596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691640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1691640"/>
            <a:ext cx="54864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1737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</a:rPr>
              <a:t>64.3%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78040" y="17556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Narayanpet drought probability by 2040 under SSP5-8.5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9320" y="2468880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2468880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514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</a:rPr>
              <a:t>28.2%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178040" y="25328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Telangana average drought probability by 2040 (SSP5-8.5)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3246120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246120"/>
            <a:ext cx="54864" cy="71323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291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148C"/>
                </a:solidFill>
              </a:rPr>
              <a:t>1.6×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3310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Increase in drought frequency vs 2026 baseline by 2040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89320" y="4023360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89320" y="4023360"/>
            <a:ext cx="54864" cy="7132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4069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</a:rPr>
              <a:t>+2.4°C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178040" y="40873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Projected temperature rise in Telangana by 2040 (SSP5-8.5)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7640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5100"/>
                </a:solidFill>
              </a:rPr>
              <a:t>CORDEX-SA integration in progress (ESGF registration) — will replace IPCC AR6 factors with ensemble RCM output for higher spatial fidelity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6064"/>
                </a:solidFill>
              </a:rPr>
              <a:t>LAYER 4 — APPLICATION &amp; INTERFACE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Interactive Dashboard — Streamlit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2618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Overview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013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KPI cards · district scatter map · seasonal NDVI cycle · feature importance · annual rankings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54864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10128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Mandal Drought 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8013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Real polygon choropleth · 592 DiCRA boundaries · date slider · NDVI/SM/CDSI toggle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974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54864" cy="12618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44768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Seasonal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8013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District time series · all-district NDVI heatmap · May vs Sep distributions · r=0.45 correlation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423160"/>
            <a:ext cx="54864" cy="12618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🔮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2026–2040 Projections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2186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Year slider · scenario toggle · uncertainty bands · SSP2 vs SSP5 comparison bars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423160"/>
            <a:ext cx="4206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23160"/>
            <a:ext cx="54864" cy="1261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18888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</a:rPr>
              <a:t>Model Validation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32186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ROC-AUC 0.974 · Brier 0.058 · spatial CV methodology · data provenance table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solidFill>
            <a:srgbClr val="1A237E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Deployment: GitHub → Streamlit Cloud → Live Public URL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Requirements: streamlit · plotly · folium · geopandas · h3 · scikit-learn · pyarrow  ·  Deployment time: ~5 minutes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E7D32"/>
                </a:solidFill>
              </a:rPr>
              <a:t>APPLICATION LAYER — NABARD INTEGRATION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Drought Intelligence to Climate-Resilient Lending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31089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07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Pre-Loan Risk Assessment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1. Mandal-level VCI score at loan origination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2. 15-year drought probability under SSP2/SSP5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3. Vulnerable districts flagged before disbursement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4. NABARD KCC portfolio: ₹4.2 lakh crore at risk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54864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607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Seasonal Monitoring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92024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1. Biweekly NDVI alerts per mandal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2. Early warning 45–60 days before crop loss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3. Automated SMS/IVR to field officers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4. Proactive restructuring vs reactive default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54864" cy="3108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0607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44768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Climate Portfolio Analytics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92024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1. District-level drought trajectory to 2040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2. Scenario-based stress testing (SSP2 vs SSP5)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3. Annual report: mandals crossing 50% threshold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4. Integration with CRISIL / ICRA rating models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SDG Alignment: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42976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SDG 2 (Zero Hunger)  ·  SDG 13 (Climate Action)  ·  SDG 15 (Life on Land)  ·  SDG 1 (No Poverty — farmer income protection)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0CAF9"/>
                </a:solidFill>
              </a:rPr>
              <a:t>What's Built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487,243 real DiCRA records ingested (NDVI + SM + LST)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VCI computed per mandal — FAO / ISRO standard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70078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592 mandal polygon choropleth — real DiCRA boundaries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Drought model: ROC-AUC 0.974 · F1 0.801 · Brier 0.058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Spatial cross-validation (district hold-out, k=5)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1272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2026–2040 projections · SSP2-4.5 &amp; SSP5-8.5 · 20-member ensemble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60273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5-page interactive Streamlit 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07822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✅  H3 DGGS (Res-7) · OGC CSAPI compliant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77840" y="274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0CAF9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749808"/>
            <a:ext cx="731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7589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Apr 28–29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0" y="758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CORDEX-SA download (ESGF) + real RCM projections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1371600"/>
            <a:ext cx="731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3807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Apr 30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0" y="13807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IMD SPI-3/6 integration for rainfall drought signal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1993392"/>
            <a:ext cx="731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0025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May 1–5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00800" y="2002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Streamlit Cloud deployment → live public URL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615184"/>
            <a:ext cx="731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6243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May 6–15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0" y="2624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TAG mentorship call · jury feedback integration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3236976"/>
            <a:ext cx="731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2461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May 16–25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0080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DiCRA Positive Deviance + crop fire layers added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3858768"/>
            <a:ext cx="731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8679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May 31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00800" y="38679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Final submission · live demo URL provided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4389120"/>
            <a:ext cx="329184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4434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Narasimha Sharma Narayanam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4663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nsnarayanam@aganithaspace.com  ·  Aganitha Space Technologies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Aganitha Space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Anvīkṣaṇa — Agricultural Drought Intelligence</dc:title>
  <dc:subject>PptxGenJS Presentation</dc:subject>
  <dc:creator>Narasimha Sharma Narayanam</dc:creator>
  <cp:lastModifiedBy>Narasimha Sharma Narayanam</cp:lastModifiedBy>
  <cp:revision>1</cp:revision>
  <dcterms:created xsi:type="dcterms:W3CDTF">2026-04-25T05:55:40Z</dcterms:created>
  <dcterms:modified xsi:type="dcterms:W3CDTF">2026-04-25T05:55:40Z</dcterms:modified>
</cp:coreProperties>
</file>